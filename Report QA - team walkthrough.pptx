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walkthrough of the offline Report QA tool: what it is, what it is not, and how to use it. Two things matter most – it is the first of two review stages, and no client data leaves the machine.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people remember nothing else from this session, it should be these two. The first protects the client from a bad report; the second protects the client from us.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offline guarantee is checked by the build script, not left to anyone remembering. Worth saying out loud to anyone nervous about putting client drafts through a browser page.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Real example: filling these in on our sample deck took it from 27 findings to 29, and the two it added were a missing classification marking and a previous client name sitting in the slide master – invisible to anyone reading the slides.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five is the point of the whole thing. The tool exists to clear the mechanical noise so that read is spent on argument and accuracy.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Blockers and majors decide whether the draft goes out. Minors and nits are about how finished it looks.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was the single biggest change to the tool: the finding used to say what rule fired and roughly where. Now it shows the words at fault, highlighted, in context.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preview on a collapsed group is the useful part – the flagged words themselves, so you can often decide without expanding.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point is that exclusions are visible. A QA pass whose exclusions are invisible is one nobody can audit – including us, six months later.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Anything you set aside is excluded from all four, and each one states how many were left out.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step that used to cost the most time – reading a QA report and retyping each point into the deck as a comment.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PDF refusal surprises people. It is deliberate: a QA pass that invents faults is worse than no QA pass, and it trains people to ignore the tool.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full list with every rule name is in the handbook, which is a single HTML file that sits next to the tool.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first two. Everything else is mechanics that people will pick up by using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0A1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66928" y="1783080"/>
            <a:ext cx="11057839" cy="10515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indent="0" marL="0">
              <a:buNone/>
            </a:pPr>
            <a:endParaRPr lang="en-US" sz="6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66928" y="475488"/>
            <a:ext cx="11057839" cy="566928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400" b="1" dirty="0">
                <a:solidFill>
                  <a:srgbClr val="0B16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indent="0" marL="0">
              <a:buNone/>
            </a:pPr>
            <a:endParaRPr lang="en-US" sz="34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A1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66928" y="658368"/>
            <a:ext cx="11057839" cy="603504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indent="0" marL="0">
              <a:buNone/>
            </a:pPr>
            <a:endParaRPr lang="en-US" sz="34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141732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20" kern="0" dirty="0">
                <a:solidFill>
                  <a:srgbClr val="7FA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LEVELBLUE · CYBER ADVISORY</a:t>
            </a:r>
            <a:endParaRPr lang="en-US" sz="125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66928" y="1783080"/>
            <a:ext cx="11057839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Report QA</a:t>
            </a:r>
            <a:endParaRPr lang="en-US" sz="60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2907792"/>
            <a:ext cx="8595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B9C9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mechanical check that runs before </a:t>
            </a:r>
            <a:pPr indent="0" marL="0">
              <a:buNone/>
            </a:pPr>
            <a:r>
              <a:rPr lang="en-US" sz="2000" b="1" dirty="0">
                <a:solidFill>
                  <a:srgbClr val="4A3300"/>
                </a:solidFill>
                <a:highlight>
                  <a:srgbClr val="FFE28A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you</a:t>
            </a:r>
            <a:pPr indent="0" marL="0">
              <a:buNone/>
            </a:pPr>
            <a:r>
              <a:rPr lang="en-US" sz="2000" dirty="0">
                <a:solidFill>
                  <a:srgbClr val="B9C9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read the draft.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3703320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FA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107 checks · one file · no install · nothing leaves your computer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580644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F8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Rajan Narwal · Manager, Cyber Advisory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66928" y="475488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16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things before anything else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060704"/>
            <a:ext cx="1105783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C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else in this deck is detail. These two are not.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66928" y="1600200"/>
            <a:ext cx="5323180" cy="3931920"/>
          </a:xfrm>
          <a:prstGeom prst="roundRect">
            <a:avLst>
              <a:gd name="adj" fmla="val 1628"/>
            </a:avLst>
          </a:prstGeom>
          <a:solidFill>
            <a:srgbClr val="FFFFFF"/>
          </a:solidFill>
          <a:ln w="12700">
            <a:solidFill>
              <a:srgbClr val="DCE4E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50976" y="1920240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E8EFFF"/>
          </a:solidFill>
          <a:ln w="12700">
            <a:solidFill>
              <a:srgbClr val="E8EF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50976" y="19202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052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950976" y="2542032"/>
            <a:ext cx="4555084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500" b="1" dirty="0">
                <a:solidFill>
                  <a:srgbClr val="0B16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is stage one, not the review</a:t>
            </a:r>
            <a:endParaRPr lang="en-US" sz="2500" dirty="0"/>
          </a:p>
        </p:txBody>
      </p:sp>
      <p:sp>
        <p:nvSpPr>
          <p:cNvPr id="8" name="Text 6"/>
          <p:cNvSpPr txBox="1"/>
          <p:nvPr/>
        </p:nvSpPr>
        <p:spPr>
          <a:xfrm>
            <a:off x="950976" y="3529584"/>
            <a:ext cx="4555084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5C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finds mechanical faults. It cannot tell you whether a finding is right, whether a severity is justified, or whether your advice would work.</a:t>
            </a:r>
            <a:endParaRPr lang="en-US" sz="1450" dirty="0"/>
          </a:p>
          <a:p>
            <a:pPr indent="0" marL="0">
              <a:lnSpc>
                <a:spcPct val="118000"/>
              </a:lnSpc>
              <a:buNone/>
            </a:pPr>
            <a:endParaRPr lang="en-US" sz="14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5C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clean result is not sign-off. Every draft still needs someone to read it.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301588" y="1600200"/>
            <a:ext cx="5323180" cy="3931920"/>
          </a:xfrm>
          <a:prstGeom prst="roundRect">
            <a:avLst>
              <a:gd name="adj" fmla="val 1628"/>
            </a:avLst>
          </a:prstGeom>
          <a:solidFill>
            <a:srgbClr val="FFFFFF"/>
          </a:solidFill>
          <a:ln w="12700">
            <a:solidFill>
              <a:srgbClr val="DCE4E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685636" y="1920240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E7F5EE"/>
          </a:solidFill>
          <a:ln w="12700">
            <a:solidFill>
              <a:srgbClr val="E7F5E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685636" y="19202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A7F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6685636" y="2542032"/>
            <a:ext cx="4555084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500" b="1" dirty="0">
                <a:solidFill>
                  <a:srgbClr val="0B16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Nothing leaves your computer</a:t>
            </a:r>
            <a:endParaRPr lang="en-US" sz="2500" dirty="0"/>
          </a:p>
        </p:txBody>
      </p:sp>
      <p:sp>
        <p:nvSpPr>
          <p:cNvPr id="13" name="Text 11"/>
          <p:cNvSpPr txBox="1"/>
          <p:nvPr/>
        </p:nvSpPr>
        <p:spPr>
          <a:xfrm>
            <a:off x="6685636" y="3529584"/>
            <a:ext cx="4555084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5C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upload, no server, no account, no telemetry. The draft is read into your browser and forgotten when you close the tab.</a:t>
            </a:r>
            <a:endParaRPr lang="en-US" sz="1450" dirty="0"/>
          </a:p>
          <a:p>
            <a:pPr indent="0" marL="0">
              <a:lnSpc>
                <a:spcPct val="118000"/>
              </a:lnSpc>
              <a:buNone/>
            </a:pPr>
            <a:endParaRPr lang="en-US" sz="14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5C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prove it: pull the network cable, open the file, check a report. It works the same.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66928" y="475488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16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runs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060704"/>
            <a:ext cx="1105783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C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file. No install, no terminal, no server, no network.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66928" y="1700784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E8EFFF"/>
          </a:solidFill>
          <a:ln w="12700">
            <a:solidFill>
              <a:srgbClr val="E8EF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66928" y="17007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5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170432" y="1664208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6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Save the file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4553712" y="1645920"/>
            <a:ext cx="707105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1400" dirty="0">
                <a:solidFill>
                  <a:srgbClr val="5C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report-qa.html goes wherever you keep it - SharePoint, your desktop, a USB stick. Open it in Edge or Chrome.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66928" y="2999232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E8EFFF"/>
          </a:solidFill>
          <a:ln w="12700">
            <a:solidFill>
              <a:srgbClr val="E8EF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66928" y="29992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5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170432" y="2962656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6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runs locally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4553712" y="2944368"/>
            <a:ext cx="707105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1400" dirty="0">
                <a:solidFill>
                  <a:srgbClr val="5C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it needs is inside that one file. Your browser runs it locally, and makes no request – so there is nowhere for the draft to go.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66928" y="4297680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E8EFFF"/>
          </a:solidFill>
          <a:ln w="12700">
            <a:solidFill>
              <a:srgbClr val="E8EF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66928" y="4297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5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170432" y="4261104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6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Updating is a file swap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4553712" y="4242816"/>
            <a:ext cx="707105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1400" dirty="0">
                <a:solidFill>
                  <a:srgbClr val="5C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the one file and everyone picks up the new checks. The version is printed at the foot of the tool.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66928" y="5541264"/>
            <a:ext cx="11057839" cy="749808"/>
          </a:xfrm>
          <a:prstGeom prst="roundRect">
            <a:avLst>
              <a:gd name="adj" fmla="val 8537"/>
            </a:avLst>
          </a:prstGeom>
          <a:solidFill>
            <a:srgbClr val="F4F7FC"/>
          </a:solidFill>
          <a:ln w="12700">
            <a:solidFill>
              <a:srgbClr val="DCE4E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77824" y="5541264"/>
            <a:ext cx="10436047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Enforced, not promised.  </a:t>
            </a:r>
            <a:pPr indent="0" marL="0">
              <a:buNone/>
            </a:pPr>
            <a:r>
              <a:rPr lang="en-US" sz="1350" dirty="0">
                <a:solidFill>
                  <a:srgbClr val="5C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build refuses to produce a file containing a network call or an external script. If someone added one, the build fails rather than ships.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66928" y="475488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16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 the engagement first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060704"/>
            <a:ext cx="1105783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C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values. Three checks cannot run without them, so an empty field quietly narrows the whole pass.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755648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10" kern="0" dirty="0">
                <a:solidFill>
                  <a:srgbClr val="5C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3172968" y="1755648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10" kern="0" dirty="0">
                <a:solidFill>
                  <a:srgbClr val="5C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UNLOCKS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7379208" y="1755648"/>
            <a:ext cx="424555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10" kern="0" dirty="0">
                <a:solidFill>
                  <a:srgbClr val="5C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LEAVE IT BLANK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66928" y="2121408"/>
            <a:ext cx="11057839" cy="0"/>
          </a:xfrm>
          <a:prstGeom prst="line">
            <a:avLst/>
          </a:prstGeom>
          <a:noFill/>
          <a:ln w="12700">
            <a:solidFill>
              <a:srgbClr val="DCE4E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66928" y="2267712"/>
            <a:ext cx="23317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en-US" sz="1350" b="1" dirty="0">
                <a:solidFill>
                  <a:srgbClr val="0B1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3172968" y="2267712"/>
            <a:ext cx="39319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en-US" sz="1350" dirty="0">
                <a:solidFill>
                  <a:srgbClr val="5C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Holds the report to British or American spelling.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7379208" y="2267712"/>
            <a:ext cx="3971239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en-US" sz="1350" dirty="0">
                <a:solidFill>
                  <a:srgbClr val="5C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dialect is guessed – unreliable on a short deck.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566928" y="2999232"/>
            <a:ext cx="23317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en-US" sz="1350" b="1" dirty="0">
                <a:solidFill>
                  <a:srgbClr val="0B1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client's name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3172968" y="2999232"/>
            <a:ext cx="39319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en-US" sz="1350" dirty="0">
                <a:solidFill>
                  <a:srgbClr val="5C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the report actually names them.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7379208" y="2999232"/>
            <a:ext cx="3971239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en-US" sz="1350" dirty="0">
                <a:solidFill>
                  <a:srgbClr val="5C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template field nobody filled in goes unnoticed.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566928" y="3730752"/>
            <a:ext cx="23317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en-US" sz="1350" b="1" dirty="0">
                <a:solidFill>
                  <a:srgbClr val="0B1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clients' names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3172968" y="3730752"/>
            <a:ext cx="39319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en-US" sz="1350" dirty="0">
                <a:solidFill>
                  <a:srgbClr val="5C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Catches a previous client surviving in a copied deck, including the slide masters.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7379208" y="3730752"/>
            <a:ext cx="3971239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en-US" sz="1350" dirty="0">
                <a:solidFill>
                  <a:srgbClr val="5C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leakage goes unreported – the worst thing this tool finds.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566928" y="4462272"/>
            <a:ext cx="23317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en-US" sz="1350" b="1" dirty="0">
                <a:solidFill>
                  <a:srgbClr val="0B1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marking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3172968" y="4462272"/>
            <a:ext cx="39319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en-US" sz="1350" dirty="0">
                <a:solidFill>
                  <a:srgbClr val="5C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the classification marking is present and consistent.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7379208" y="4462272"/>
            <a:ext cx="3971239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en-US" sz="1350" dirty="0">
                <a:solidFill>
                  <a:srgbClr val="5C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marking is not checked at all.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512064" y="5321808"/>
            <a:ext cx="7973568" cy="855990"/>
          </a:xfrm>
          <a:prstGeom prst="roundRect">
            <a:avLst>
              <a:gd name="adj" fmla="val 6409"/>
            </a:avLst>
          </a:prstGeom>
          <a:solidFill>
            <a:srgbClr val="FFFFFF"/>
          </a:solidFill>
          <a:ln w="12700">
            <a:solidFill>
              <a:srgbClr val="DCE4EF"/>
            </a:solidFill>
            <a:prstDash val="solid"/>
          </a:ln>
        </p:spPr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5376672"/>
            <a:ext cx="7863840" cy="746262"/>
          </a:xfrm>
          <a:prstGeom prst="rect">
            <a:avLst/>
          </a:prstGeom>
        </p:spPr>
      </p:pic>
      <p:sp>
        <p:nvSpPr>
          <p:cNvPr id="22" name="Text 19"/>
          <p:cNvSpPr txBox="1"/>
          <p:nvPr/>
        </p:nvSpPr>
        <p:spPr>
          <a:xfrm>
            <a:off x="8750808" y="5630931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9A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button carries its own state.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66928" y="475488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16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Running a check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060704"/>
            <a:ext cx="1105783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C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steps. The last one is the one the tool cannot do for you.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66928" y="1755648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E8EFFF"/>
          </a:solidFill>
          <a:ln w="12700">
            <a:solidFill>
              <a:srgbClr val="E8EF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66928" y="17556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052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719072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6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Drop the draft on the page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2039112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C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PowerPoint, Word, Markdown or HTML. Nothing is uploaded.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66928" y="2615184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E8EFFF"/>
          </a:solidFill>
          <a:ln w="12700">
            <a:solidFill>
              <a:srgbClr val="E8EF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66928" y="26151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052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2578608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6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 the verdict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1280160" y="2898648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C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line: whether anything here must not reach a client.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66928" y="347472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E8EFFF"/>
          </a:solidFill>
          <a:ln w="12700">
            <a:solidFill>
              <a:srgbClr val="E8EF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66928" y="3474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052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3438144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6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 the blockers and majors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1280160" y="3758184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C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open by default. Minors and nits start collapsed.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66928" y="4334256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E8EFFF"/>
          </a:solidFill>
          <a:ln w="12700">
            <a:solidFill>
              <a:srgbClr val="E8EF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66928" y="43342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052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1280160" y="429768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6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 aside what does not apply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1280160" y="4617720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C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Counts, verdict and every export follow your decisions.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566928" y="5193792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0052FF"/>
          </a:solidFill>
          <a:ln w="12700">
            <a:solidFill>
              <a:srgbClr val="0052F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66928" y="51937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1280160" y="5157216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6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Hand it back, then read it yourself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1280160" y="5477256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C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judgement the tool has no access to.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7004304" y="1911096"/>
            <a:ext cx="4672584" cy="1082827"/>
          </a:xfrm>
          <a:prstGeom prst="roundRect">
            <a:avLst>
              <a:gd name="adj" fmla="val 5067"/>
            </a:avLst>
          </a:prstGeom>
          <a:solidFill>
            <a:srgbClr val="FFFFFF"/>
          </a:solidFill>
          <a:ln w="12700">
            <a:solidFill>
              <a:srgbClr val="DCE4EF"/>
            </a:solidFill>
            <a:prstDash val="solid"/>
          </a:ln>
        </p:spPr>
      </p:sp>
      <p:pic>
        <p:nvPicPr>
          <p:cNvPr id="2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59168" y="1965960"/>
            <a:ext cx="4562856" cy="973099"/>
          </a:xfrm>
          <a:prstGeom prst="rect">
            <a:avLst/>
          </a:prstGeom>
        </p:spPr>
      </p:pic>
      <p:sp>
        <p:nvSpPr>
          <p:cNvPr id="26" name="Text 23"/>
          <p:cNvSpPr txBox="1"/>
          <p:nvPr/>
        </p:nvSpPr>
        <p:spPr>
          <a:xfrm>
            <a:off x="7059168" y="3085363"/>
            <a:ext cx="4562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9A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2, on a real deck.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66928" y="475488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16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four levels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060704"/>
            <a:ext cx="1105783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C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each one is telling you to do.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66928" y="1700784"/>
            <a:ext cx="11057839" cy="105156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12700">
            <a:solidFill>
              <a:srgbClr val="DCE4E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59536" y="1920240"/>
            <a:ext cx="1051560" cy="292608"/>
          </a:xfrm>
          <a:prstGeom prst="roundRect">
            <a:avLst>
              <a:gd name="adj" fmla="val 50000"/>
            </a:avLst>
          </a:prstGeom>
          <a:solidFill>
            <a:srgbClr val="FDECEA"/>
          </a:solidFill>
          <a:ln w="12700">
            <a:solidFill>
              <a:srgbClr val="FDECE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59536" y="1920240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60" kern="0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BLOCKER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859536" y="2276856"/>
            <a:ext cx="1051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C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checks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2139696" y="1883664"/>
            <a:ext cx="913759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B16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Must not reach a client at all.</a:t>
            </a:r>
            <a:endParaRPr lang="en-US" sz="1650" dirty="0"/>
          </a:p>
        </p:txBody>
      </p:sp>
      <p:sp>
        <p:nvSpPr>
          <p:cNvPr id="9" name="Text 7"/>
          <p:cNvSpPr txBox="1"/>
          <p:nvPr/>
        </p:nvSpPr>
        <p:spPr>
          <a:xfrm>
            <a:off x="2139696" y="2212848"/>
            <a:ext cx="913759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C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credential, another client’s name, an unresolved comment, a tracked change, an internal remark in the speaker notes.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66928" y="2862072"/>
            <a:ext cx="11057839" cy="105156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12700">
            <a:solidFill>
              <a:srgbClr val="DCE4E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59536" y="3081528"/>
            <a:ext cx="1051560" cy="292608"/>
          </a:xfrm>
          <a:prstGeom prst="roundRect">
            <a:avLst>
              <a:gd name="adj" fmla="val 50000"/>
            </a:avLst>
          </a:prstGeom>
          <a:solidFill>
            <a:srgbClr val="FDF3E3"/>
          </a:solidFill>
          <a:ln w="12700">
            <a:solidFill>
              <a:srgbClr val="FDF3E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59536" y="3081528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6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859536" y="3438144"/>
            <a:ext cx="1051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C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checks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2139696" y="3044952"/>
            <a:ext cx="913759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B16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Wrong, or reads as wrong to the client.</a:t>
            </a:r>
            <a:endParaRPr lang="en-US" sz="1650" dirty="0"/>
          </a:p>
        </p:txBody>
      </p:sp>
      <p:sp>
        <p:nvSpPr>
          <p:cNvPr id="15" name="Text 13"/>
          <p:cNvSpPr txBox="1"/>
          <p:nvPr/>
        </p:nvSpPr>
        <p:spPr>
          <a:xfrm>
            <a:off x="2139696" y="3374136"/>
            <a:ext cx="913759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C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missing section, a cross-reference that goes nowhere, a Common Vulnerability Scoring System (CVSS) score that contradicts its own label.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66928" y="4023360"/>
            <a:ext cx="11057839" cy="105156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12700">
            <a:solidFill>
              <a:srgbClr val="DCE4E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9536" y="4242816"/>
            <a:ext cx="1051560" cy="292608"/>
          </a:xfrm>
          <a:prstGeom prst="roundRect">
            <a:avLst>
              <a:gd name="adj" fmla="val 50000"/>
            </a:avLst>
          </a:prstGeom>
          <a:solidFill>
            <a:srgbClr val="EEF4FF"/>
          </a:solidFill>
          <a:ln w="12700">
            <a:solidFill>
              <a:srgbClr val="EEF4F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59536" y="4242816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60" kern="0" dirty="0">
                <a:solidFill>
                  <a:srgbClr val="005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MINOR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859536" y="4599432"/>
            <a:ext cx="1051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C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 checks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2139696" y="4206240"/>
            <a:ext cx="913759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B16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draft disagrees with itself.</a:t>
            </a:r>
            <a:endParaRPr lang="en-US" sz="1650" dirty="0"/>
          </a:p>
        </p:txBody>
      </p:sp>
      <p:sp>
        <p:nvSpPr>
          <p:cNvPr id="21" name="Text 19"/>
          <p:cNvSpPr txBox="1"/>
          <p:nvPr/>
        </p:nvSpPr>
        <p:spPr>
          <a:xfrm>
            <a:off x="2139696" y="4535424"/>
            <a:ext cx="913759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C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Spelling, capitalisation, dashes, spacing. Small alone; together they are what makes a report look unchecked.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66928" y="5184648"/>
            <a:ext cx="11057839" cy="105156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12700">
            <a:solidFill>
              <a:srgbClr val="DCE4E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59536" y="5404104"/>
            <a:ext cx="1051560" cy="292608"/>
          </a:xfrm>
          <a:prstGeom prst="roundRect">
            <a:avLst>
              <a:gd name="adj" fmla="val 50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59536" y="5404104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60" kern="0" dirty="0">
                <a:solidFill>
                  <a:srgbClr val="5A6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NIT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859536" y="5760720"/>
            <a:ext cx="1051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C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checks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2139696" y="5367528"/>
            <a:ext cx="913759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B16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preference rather than a fault.</a:t>
            </a:r>
            <a:endParaRPr lang="en-US" sz="1650" dirty="0"/>
          </a:p>
        </p:txBody>
      </p:sp>
      <p:sp>
        <p:nvSpPr>
          <p:cNvPr id="27" name="Text 25"/>
          <p:cNvSpPr txBox="1"/>
          <p:nvPr/>
        </p:nvSpPr>
        <p:spPr>
          <a:xfrm>
            <a:off x="2139696" y="5696712"/>
            <a:ext cx="913759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C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Wordiness, hedging, passive voice. Fix if you have the time, ignore it if you do not.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66928" y="475488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16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finding quotes your own words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060704"/>
            <a:ext cx="1105783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C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you can match it against the slide in front of you, instead of decoding a rule name.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12064" y="1682496"/>
            <a:ext cx="11167567" cy="2441885"/>
          </a:xfrm>
          <a:prstGeom prst="roundRect">
            <a:avLst>
              <a:gd name="adj" fmla="val 2247"/>
            </a:avLst>
          </a:prstGeom>
          <a:solidFill>
            <a:srgbClr val="FFFFFF"/>
          </a:solidFill>
          <a:ln w="12700">
            <a:solidFill>
              <a:srgbClr val="DCE4EF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737360"/>
            <a:ext cx="11057839" cy="2332157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66928" y="4215821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9A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tool, on our sample deck.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566928" y="4069080"/>
            <a:ext cx="534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16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exact words</a:t>
            </a:r>
            <a:endParaRPr lang="en-US" sz="1550" dirty="0"/>
          </a:p>
        </p:txBody>
      </p:sp>
      <p:sp>
        <p:nvSpPr>
          <p:cNvPr id="8" name="Text 5"/>
          <p:cNvSpPr txBox="1"/>
          <p:nvPr/>
        </p:nvSpPr>
        <p:spPr>
          <a:xfrm>
            <a:off x="566928" y="4361688"/>
            <a:ext cx="5346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en-US" sz="1300" dirty="0">
                <a:solidFill>
                  <a:srgbClr val="5C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Highlighted inside their own sentence – not a line number to go hunting with.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6278728" y="4069080"/>
            <a:ext cx="534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16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Whitespace too</a:t>
            </a:r>
            <a:endParaRPr lang="en-US" sz="1550" dirty="0"/>
          </a:p>
        </p:txBody>
      </p:sp>
      <p:sp>
        <p:nvSpPr>
          <p:cNvPr id="10" name="Text 7"/>
          <p:cNvSpPr txBox="1"/>
          <p:nvPr/>
        </p:nvSpPr>
        <p:spPr>
          <a:xfrm>
            <a:off x="6278728" y="4361688"/>
            <a:ext cx="5346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en-US" sz="1300" dirty="0">
                <a:solidFill>
                  <a:srgbClr val="5C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double space shows as a highlighted blank. It is the only way to see one at all.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566928" y="5166360"/>
            <a:ext cx="534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16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replacement</a:t>
            </a:r>
            <a:endParaRPr lang="en-US" sz="1550" dirty="0"/>
          </a:p>
        </p:txBody>
      </p:sp>
      <p:sp>
        <p:nvSpPr>
          <p:cNvPr id="12" name="Text 9"/>
          <p:cNvSpPr txBox="1"/>
          <p:nvPr/>
        </p:nvSpPr>
        <p:spPr>
          <a:xfrm>
            <a:off x="566928" y="5458968"/>
            <a:ext cx="5346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en-US" sz="1300" dirty="0">
                <a:solidFill>
                  <a:srgbClr val="5C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fix is unambiguous, it is given in green on the right.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6278728" y="5166360"/>
            <a:ext cx="534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16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family</a:t>
            </a:r>
            <a:endParaRPr lang="en-US" sz="1550" dirty="0"/>
          </a:p>
        </p:txBody>
      </p:sp>
      <p:sp>
        <p:nvSpPr>
          <p:cNvPr id="14" name="Text 11"/>
          <p:cNvSpPr txBox="1"/>
          <p:nvPr/>
        </p:nvSpPr>
        <p:spPr>
          <a:xfrm>
            <a:off x="6278728" y="5458968"/>
            <a:ext cx="5346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en-US" sz="1300" dirty="0">
                <a:solidFill>
                  <a:srgbClr val="5C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kind of check raised it, and the rule name if you need to raise it with me.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66928" y="475488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16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Keeping the list readable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060704"/>
            <a:ext cx="1105783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C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27-finding deck used to be three screens. It is now about one.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66928" y="1783080"/>
            <a:ext cx="3442106" cy="2286000"/>
          </a:xfrm>
          <a:prstGeom prst="roundRect">
            <a:avLst>
              <a:gd name="adj" fmla="val 2800"/>
            </a:avLst>
          </a:prstGeom>
          <a:solidFill>
            <a:srgbClr val="FFFFFF"/>
          </a:solidFill>
          <a:ln w="12700">
            <a:solidFill>
              <a:srgbClr val="DCE4E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41248" y="2057400"/>
            <a:ext cx="289346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0B16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Grouped by check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41248" y="2697480"/>
            <a:ext cx="289346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1350" dirty="0">
                <a:solidFill>
                  <a:srgbClr val="5C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check that fired eight times is one row with a count and a preview of the flagged words – often enough to act on without opening it.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374794" y="1783080"/>
            <a:ext cx="3442106" cy="2286000"/>
          </a:xfrm>
          <a:prstGeom prst="roundRect">
            <a:avLst>
              <a:gd name="adj" fmla="val 2800"/>
            </a:avLst>
          </a:prstGeom>
          <a:solidFill>
            <a:srgbClr val="FFFFFF"/>
          </a:solidFill>
          <a:ln w="12700">
            <a:solidFill>
              <a:srgbClr val="DCE4E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649114" y="2057400"/>
            <a:ext cx="289346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0B16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Collapsed by default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4649114" y="2697480"/>
            <a:ext cx="289346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1350" dirty="0">
                <a:solidFill>
                  <a:srgbClr val="5C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Blockers and majors open, because they decide whether the draft goes out. Minors and nits start shut.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8182661" y="1783080"/>
            <a:ext cx="3442106" cy="2286000"/>
          </a:xfrm>
          <a:prstGeom prst="roundRect">
            <a:avLst>
              <a:gd name="adj" fmla="val 2800"/>
            </a:avLst>
          </a:prstGeom>
          <a:solidFill>
            <a:srgbClr val="FFFFFF"/>
          </a:solidFill>
          <a:ln w="12700">
            <a:solidFill>
              <a:srgbClr val="DCE4E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456981" y="2057400"/>
            <a:ext cx="289346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0B16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Show filters the list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8456981" y="2697480"/>
            <a:ext cx="289346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1350" dirty="0">
                <a:solidFill>
                  <a:srgbClr val="5C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Blocker and you see blockers only. Click it again to clear. That is your go/no-go view.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12064" y="4471416"/>
            <a:ext cx="11167567" cy="1110849"/>
          </a:xfrm>
          <a:prstGeom prst="roundRect">
            <a:avLst>
              <a:gd name="adj" fmla="val 4939"/>
            </a:avLst>
          </a:prstGeom>
          <a:solidFill>
            <a:srgbClr val="FFFFFF"/>
          </a:solidFill>
          <a:ln w="12700">
            <a:solidFill>
              <a:srgbClr val="DCE4EF"/>
            </a:solidFill>
            <a:prstDash val="solid"/>
          </a:ln>
        </p:spPr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4526280"/>
            <a:ext cx="11057839" cy="1001121"/>
          </a:xfrm>
          <a:prstGeom prst="rect">
            <a:avLst/>
          </a:prstGeom>
        </p:spPr>
      </p:pic>
      <p:sp>
        <p:nvSpPr>
          <p:cNvPr id="15" name="Text 12"/>
          <p:cNvSpPr txBox="1"/>
          <p:nvPr/>
        </p:nvSpPr>
        <p:spPr>
          <a:xfrm>
            <a:off x="566928" y="5691993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9A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row, six places. Often enough to judge without opening it.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66928" y="475488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16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have the last word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060704"/>
            <a:ext cx="1105783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C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rule set is right about everything.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66928" y="1737360"/>
            <a:ext cx="5323180" cy="1481328"/>
          </a:xfrm>
          <a:prstGeom prst="roundRect">
            <a:avLst>
              <a:gd name="adj" fmla="val 4321"/>
            </a:avLst>
          </a:prstGeom>
          <a:solidFill>
            <a:srgbClr val="FFFFFF"/>
          </a:solidFill>
          <a:ln w="12700">
            <a:solidFill>
              <a:srgbClr val="DCE4E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77824" y="1938528"/>
            <a:ext cx="47013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16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Ignore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877824" y="2304288"/>
            <a:ext cx="470138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en-US" sz="1400" dirty="0">
                <a:solidFill>
                  <a:srgbClr val="5C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Stops that flagged text being reported by that check.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301588" y="1737360"/>
            <a:ext cx="5323180" cy="1481328"/>
          </a:xfrm>
          <a:prstGeom prst="roundRect">
            <a:avLst>
              <a:gd name="adj" fmla="val 4321"/>
            </a:avLst>
          </a:prstGeom>
          <a:solidFill>
            <a:srgbClr val="FFFFFF"/>
          </a:solidFill>
          <a:ln w="12700">
            <a:solidFill>
              <a:srgbClr val="DCE4E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612484" y="1938528"/>
            <a:ext cx="47013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16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Ignore check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6612484" y="2304288"/>
            <a:ext cx="470138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en-US" sz="1400" dirty="0">
                <a:solidFill>
                  <a:srgbClr val="5C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Sets the whole check aside for this draft.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566928" y="3456432"/>
            <a:ext cx="110578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B16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Nothing you set aside is simply gone</a:t>
            </a:r>
            <a:endParaRPr lang="en-US" sz="2100" dirty="0"/>
          </a:p>
        </p:txBody>
      </p:sp>
      <p:sp>
        <p:nvSpPr>
          <p:cNvPr id="11" name="Text 9"/>
          <p:cNvSpPr txBox="1"/>
          <p:nvPr/>
        </p:nvSpPr>
        <p:spPr>
          <a:xfrm>
            <a:off x="658368" y="3913632"/>
            <a:ext cx="10874959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5C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collects in an Ignored section at the foot of the list, with Restore on each.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5C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running total sits under the verdict, so a verdict reached by ignoring never looks like one reached by fixing.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5C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copied format states how many were left out.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5C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decisions survive re-checking the same draft after a round of edits – but are never written to disk, because the keys would carry client text into browser storage.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822960" y="5120640"/>
            <a:ext cx="10533888" cy="1729119"/>
          </a:xfrm>
          <a:prstGeom prst="roundRect">
            <a:avLst>
              <a:gd name="adj" fmla="val 3173"/>
            </a:avLst>
          </a:prstGeom>
          <a:solidFill>
            <a:srgbClr val="FFFFFF"/>
          </a:solidFill>
          <a:ln w="12700">
            <a:solidFill>
              <a:srgbClr val="DCE4EF"/>
            </a:solidFill>
            <a:prstDash val="solid"/>
          </a:ln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" y="5175504"/>
            <a:ext cx="10424160" cy="161939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66928" y="475488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16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Handing the findings back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060704"/>
            <a:ext cx="1105783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C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puts them on your clipboard in the shape the next person needs.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66928" y="1755648"/>
            <a:ext cx="5323180" cy="1170432"/>
          </a:xfrm>
          <a:prstGeom prst="roundRect">
            <a:avLst>
              <a:gd name="adj" fmla="val 5469"/>
            </a:avLst>
          </a:prstGeom>
          <a:solidFill>
            <a:srgbClr val="FFFFFF"/>
          </a:solidFill>
          <a:ln w="12700">
            <a:solidFill>
              <a:srgbClr val="DCE4E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59536" y="1938528"/>
            <a:ext cx="47379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52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comments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859536" y="2267712"/>
            <a:ext cx="473796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5C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block per finding, to paste into the comment on that slide or paragraph.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301588" y="1755648"/>
            <a:ext cx="5323180" cy="1170432"/>
          </a:xfrm>
          <a:prstGeom prst="roundRect">
            <a:avLst>
              <a:gd name="adj" fmla="val 5469"/>
            </a:avLst>
          </a:prstGeom>
          <a:solidFill>
            <a:srgbClr val="FFFFFF"/>
          </a:solidFill>
          <a:ln w="12700">
            <a:solidFill>
              <a:srgbClr val="DCE4E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594196" y="1938528"/>
            <a:ext cx="47379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52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Summary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6594196" y="2267712"/>
            <a:ext cx="473796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5C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line per finding, blockers first, to attach to the mail back to the author.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66928" y="3127248"/>
            <a:ext cx="5323180" cy="1170432"/>
          </a:xfrm>
          <a:prstGeom prst="roundRect">
            <a:avLst>
              <a:gd name="adj" fmla="val 5469"/>
            </a:avLst>
          </a:prstGeom>
          <a:solidFill>
            <a:srgbClr val="FFFFFF"/>
          </a:solidFill>
          <a:ln w="12700">
            <a:solidFill>
              <a:srgbClr val="DCE4E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59536" y="3310128"/>
            <a:ext cx="47379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52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Blocker list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859536" y="3639312"/>
            <a:ext cx="473796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5C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what stops the draft being issued. The go/no-go note.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301588" y="3127248"/>
            <a:ext cx="5323180" cy="1170432"/>
          </a:xfrm>
          <a:prstGeom prst="roundRect">
            <a:avLst>
              <a:gd name="adj" fmla="val 5469"/>
            </a:avLst>
          </a:prstGeom>
          <a:solidFill>
            <a:srgbClr val="FFFFFF"/>
          </a:solidFill>
          <a:ln w="12700">
            <a:solidFill>
              <a:srgbClr val="DCE4E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594196" y="3310128"/>
            <a:ext cx="47379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52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Full report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6594196" y="3639312"/>
            <a:ext cx="473796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5C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complete report in Markdown, for a review thread.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1188720" y="4425696"/>
            <a:ext cx="9802368" cy="872850"/>
          </a:xfrm>
          <a:prstGeom prst="roundRect">
            <a:avLst>
              <a:gd name="adj" fmla="val 6286"/>
            </a:avLst>
          </a:prstGeom>
          <a:solidFill>
            <a:srgbClr val="FFFFFF"/>
          </a:solidFill>
          <a:ln w="12700">
            <a:solidFill>
              <a:srgbClr val="DCE4EF"/>
            </a:solidFill>
            <a:prstDash val="solid"/>
          </a:ln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43584" y="4480560"/>
            <a:ext cx="9692640" cy="763122"/>
          </a:xfrm>
          <a:prstGeom prst="rect">
            <a:avLst/>
          </a:prstGeom>
        </p:spPr>
      </p:pic>
      <p:sp>
        <p:nvSpPr>
          <p:cNvPr id="18" name="Shape 15"/>
          <p:cNvSpPr/>
          <p:nvPr/>
        </p:nvSpPr>
        <p:spPr>
          <a:xfrm>
            <a:off x="566928" y="5426562"/>
            <a:ext cx="11057839" cy="640080"/>
          </a:xfrm>
          <a:prstGeom prst="roundRect">
            <a:avLst>
              <a:gd name="adj" fmla="val 10000"/>
            </a:avLst>
          </a:prstGeom>
          <a:solidFill>
            <a:srgbClr val="F4F7FC"/>
          </a:solidFill>
          <a:ln w="12700">
            <a:solidFill>
              <a:srgbClr val="DCE4EF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96112" y="5426562"/>
            <a:ext cx="10399471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four quote the flagged text. </a:t>
            </a:r>
            <a:pPr indent="0" marL="0">
              <a:buNone/>
            </a:pPr>
            <a:r>
              <a:rPr lang="en-US" sz="1350" dirty="0">
                <a:solidFill>
                  <a:srgbClr val="5C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"Line 42 has an American spelling" sends the author hunting. </a:t>
            </a:r>
            <a:pPr indent="0" marL="0">
              <a:buNone/>
            </a:pPr>
            <a:r>
              <a:rPr lang="en-US" sz="1350" dirty="0">
                <a:solidFill>
                  <a:srgbClr val="4A3300"/>
                </a:solidFill>
                <a:highlight>
                  <a:srgbClr val="FFE28A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Found: "color"</a:t>
            </a:r>
            <a:pPr indent="0" marL="0">
              <a:buNone/>
            </a:pPr>
            <a:r>
              <a:rPr lang="en-US" sz="1350" dirty="0">
                <a:solidFill>
                  <a:srgbClr val="5C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does not.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66928" y="658368"/>
            <a:ext cx="1105783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more transcribing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298448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B9C9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 PowerPoint file, Download deck with comments saves a copy carrying one real PowerPoint comment per finding, on the slide it came from.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66928" y="2267712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16293D"/>
          </a:solidFill>
          <a:ln w="12700">
            <a:solidFill>
              <a:srgbClr val="1629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66928" y="22677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DDB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078992" y="2212848"/>
            <a:ext cx="3200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writes a copy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4407408" y="2212848"/>
            <a:ext cx="721735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F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Deck (QA comments).pptx. The file you dropped in is read and never written to.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66928" y="3035808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16293D"/>
          </a:solidFill>
          <a:ln w="12700">
            <a:solidFill>
              <a:srgbClr val="16293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66928" y="30358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DDB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078992" y="2980944"/>
            <a:ext cx="3200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Slides are untouched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4407408" y="2980944"/>
            <a:ext cx="721735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F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Copied across byte for byte. Nothing is re-encoded behind the author’s back.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66928" y="3803904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16293D"/>
          </a:solidFill>
          <a:ln w="12700">
            <a:solidFill>
              <a:srgbClr val="16293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66928" y="38039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DDB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078992" y="3749040"/>
            <a:ext cx="3200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Existing comments survive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4407408" y="3749040"/>
            <a:ext cx="721735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F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Yours and anyone else’s, with their names. A second pass adds rather than replaces.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66928" y="4572000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16293D"/>
          </a:solidFill>
          <a:ln w="12700">
            <a:solidFill>
              <a:srgbClr val="16293D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66928" y="45720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DDB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078992" y="4517136"/>
            <a:ext cx="3200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Ignored findings stay out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4407408" y="4517136"/>
            <a:ext cx="721735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F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as the copied formats.</a:t>
            </a:r>
            <a:endParaRPr lang="en-US" sz="1350" dirty="0"/>
          </a:p>
        </p:txBody>
      </p:sp>
      <p:sp>
        <p:nvSpPr>
          <p:cNvPr id="20" name="Text 18"/>
          <p:cNvSpPr txBox="1"/>
          <p:nvPr/>
        </p:nvSpPr>
        <p:spPr>
          <a:xfrm>
            <a:off x="566928" y="5715000"/>
            <a:ext cx="110578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7B92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is not supported for this yet – it anchors comments to exact runs of text rather than to a page, which is a harder problem.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66928" y="475488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16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it reads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060704"/>
            <a:ext cx="1105783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C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the one format it refuses, on purpose.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75564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7F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.pptx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2578608" y="1709928"/>
            <a:ext cx="9046159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en-US" sz="1350" dirty="0">
                <a:solidFill>
                  <a:srgbClr val="5C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Slides, titles, bullets, tables, speaker notes, comments, and the text in slide layouts and masters. Findings are reported by slide number.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66928" y="2468880"/>
            <a:ext cx="11057839" cy="0"/>
          </a:xfrm>
          <a:prstGeom prst="line">
            <a:avLst/>
          </a:prstGeom>
          <a:noFill/>
          <a:ln w="12700">
            <a:solidFill>
              <a:srgbClr val="DCE4E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66928" y="2615184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7F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.docx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2578608" y="2569464"/>
            <a:ext cx="9046159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en-US" sz="1350" dirty="0">
                <a:solidFill>
                  <a:srgbClr val="5C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Body text, plus tracked changes, comments, highlighting, headers, footers and document properties.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66928" y="3328416"/>
            <a:ext cx="11057839" cy="0"/>
          </a:xfrm>
          <a:prstGeom prst="line">
            <a:avLst/>
          </a:prstGeom>
          <a:noFill/>
          <a:ln w="12700">
            <a:solidFill>
              <a:srgbClr val="DCE4E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66928" y="34747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7F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.md  .txt  .html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2578608" y="3429000"/>
            <a:ext cx="9046159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en-US" sz="1350" dirty="0">
                <a:solidFill>
                  <a:srgbClr val="5C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supported.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66928" y="4187952"/>
            <a:ext cx="11057839" cy="0"/>
          </a:xfrm>
          <a:prstGeom prst="line">
            <a:avLst/>
          </a:prstGeom>
          <a:noFill/>
          <a:ln w="12700">
            <a:solidFill>
              <a:srgbClr val="DCE4E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66928" y="43342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326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.pdf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2578608" y="4288536"/>
            <a:ext cx="9046159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en-US" sz="1350" dirty="0">
                <a:solidFill>
                  <a:srgbClr val="5C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Refused. Text pulled back out of a PDF garbles spacing and line breaks, so a check on it would report faults that are not in your document and miss ones that are. Check the file you made the PDF from.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566928" y="5047488"/>
            <a:ext cx="11057839" cy="0"/>
          </a:xfrm>
          <a:prstGeom prst="line">
            <a:avLst/>
          </a:prstGeom>
          <a:noFill/>
          <a:ln w="12700">
            <a:solidFill>
              <a:srgbClr val="DCE4E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66928" y="51937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4530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.doc  .ppt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2578608" y="5148072"/>
            <a:ext cx="9046159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en-US" sz="1350" dirty="0">
                <a:solidFill>
                  <a:srgbClr val="5C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Refused. Save as the modern format first.</a:t>
            </a:r>
            <a:endParaRPr lang="en-US" sz="13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66928" y="475488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16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107 checks, 18 families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060704"/>
            <a:ext cx="1105783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C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under every finding, so you always know which kind of check raised it.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755648"/>
            <a:ext cx="281726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3411626" y="1792224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C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66928" y="2231136"/>
            <a:ext cx="3320186" cy="0"/>
          </a:xfrm>
          <a:prstGeom prst="line">
            <a:avLst/>
          </a:prstGeom>
          <a:noFill/>
          <a:ln w="12700">
            <a:solidFill>
              <a:srgbClr val="DCE4E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66928" y="2359152"/>
            <a:ext cx="281726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Spacing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3411626" y="2395728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C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66928" y="2834640"/>
            <a:ext cx="3320186" cy="0"/>
          </a:xfrm>
          <a:prstGeom prst="line">
            <a:avLst/>
          </a:prstGeom>
          <a:noFill/>
          <a:ln w="12700">
            <a:solidFill>
              <a:srgbClr val="DCE4E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66928" y="2962656"/>
            <a:ext cx="281726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Confidentiality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3411626" y="299923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C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66928" y="3438144"/>
            <a:ext cx="3320186" cy="0"/>
          </a:xfrm>
          <a:prstGeom prst="line">
            <a:avLst/>
          </a:prstGeom>
          <a:noFill/>
          <a:ln w="12700">
            <a:solidFill>
              <a:srgbClr val="DCE4E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66928" y="3566160"/>
            <a:ext cx="281726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accuracy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3411626" y="3602736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C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66928" y="4041648"/>
            <a:ext cx="3320186" cy="0"/>
          </a:xfrm>
          <a:prstGeom prst="line">
            <a:avLst/>
          </a:prstGeom>
          <a:noFill/>
          <a:ln w="12700">
            <a:solidFill>
              <a:srgbClr val="DCE4E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66928" y="4169664"/>
            <a:ext cx="281726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readiness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3411626" y="4206240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C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66928" y="4645152"/>
            <a:ext cx="3320186" cy="0"/>
          </a:xfrm>
          <a:prstGeom prst="line">
            <a:avLst/>
          </a:prstGeom>
          <a:noFill/>
          <a:ln w="12700">
            <a:solidFill>
              <a:srgbClr val="DCE4E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66928" y="4773168"/>
            <a:ext cx="281726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Punctuation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3411626" y="4809744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C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66928" y="5248656"/>
            <a:ext cx="3320186" cy="0"/>
          </a:xfrm>
          <a:prstGeom prst="line">
            <a:avLst/>
          </a:prstGeom>
          <a:noFill/>
          <a:ln w="12700">
            <a:solidFill>
              <a:srgbClr val="DCE4E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344314" y="1755648"/>
            <a:ext cx="281726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7189013" y="1792224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C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344314" y="2231136"/>
            <a:ext cx="3320186" cy="0"/>
          </a:xfrm>
          <a:prstGeom prst="line">
            <a:avLst/>
          </a:prstGeom>
          <a:noFill/>
          <a:ln w="12700">
            <a:solidFill>
              <a:srgbClr val="DCE4E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344314" y="2359152"/>
            <a:ext cx="281726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Advisory quality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7189013" y="2395728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C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344314" y="2834640"/>
            <a:ext cx="3320186" cy="0"/>
          </a:xfrm>
          <a:prstGeom prst="line">
            <a:avLst/>
          </a:prstGeom>
          <a:noFill/>
          <a:ln w="12700">
            <a:solidFill>
              <a:srgbClr val="DCE4EF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344314" y="2962656"/>
            <a:ext cx="281726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Terminology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7189013" y="299923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C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344314" y="3438144"/>
            <a:ext cx="3320186" cy="0"/>
          </a:xfrm>
          <a:prstGeom prst="line">
            <a:avLst/>
          </a:prstGeom>
          <a:noFill/>
          <a:ln w="12700">
            <a:solidFill>
              <a:srgbClr val="DCE4EF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4344314" y="3566160"/>
            <a:ext cx="281726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Style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7189013" y="3602736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C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344314" y="4041648"/>
            <a:ext cx="3320186" cy="0"/>
          </a:xfrm>
          <a:prstGeom prst="line">
            <a:avLst/>
          </a:prstGeom>
          <a:noFill/>
          <a:ln w="12700">
            <a:solidFill>
              <a:srgbClr val="DCE4EF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4344314" y="4169664"/>
            <a:ext cx="281726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Numbers</a:t>
            </a:r>
            <a:endParaRPr lang="en-US" sz="1400" dirty="0"/>
          </a:p>
        </p:txBody>
      </p:sp>
      <p:sp>
        <p:nvSpPr>
          <p:cNvPr id="35" name="Text 33"/>
          <p:cNvSpPr txBox="1"/>
          <p:nvPr/>
        </p:nvSpPr>
        <p:spPr>
          <a:xfrm>
            <a:off x="7189013" y="4206240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C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4344314" y="4645152"/>
            <a:ext cx="3320186" cy="0"/>
          </a:xfrm>
          <a:prstGeom prst="line">
            <a:avLst/>
          </a:prstGeom>
          <a:noFill/>
          <a:ln w="12700">
            <a:solidFill>
              <a:srgbClr val="DCE4EF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4344314" y="4773168"/>
            <a:ext cx="281726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Dialect</a:t>
            </a:r>
            <a:endParaRPr lang="en-US" sz="1400" dirty="0"/>
          </a:p>
        </p:txBody>
      </p:sp>
      <p:sp>
        <p:nvSpPr>
          <p:cNvPr id="38" name="Text 36"/>
          <p:cNvSpPr txBox="1"/>
          <p:nvPr/>
        </p:nvSpPr>
        <p:spPr>
          <a:xfrm>
            <a:off x="7189013" y="4809744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C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4344314" y="5248656"/>
            <a:ext cx="3320186" cy="0"/>
          </a:xfrm>
          <a:prstGeom prst="line">
            <a:avLst/>
          </a:prstGeom>
          <a:noFill/>
          <a:ln w="12700">
            <a:solidFill>
              <a:srgbClr val="DCE4EF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8121701" y="1755648"/>
            <a:ext cx="281726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Typography</a:t>
            </a:r>
            <a:endParaRPr lang="en-US" sz="1400" dirty="0"/>
          </a:p>
        </p:txBody>
      </p:sp>
      <p:sp>
        <p:nvSpPr>
          <p:cNvPr id="41" name="Text 39"/>
          <p:cNvSpPr txBox="1"/>
          <p:nvPr/>
        </p:nvSpPr>
        <p:spPr>
          <a:xfrm>
            <a:off x="10966399" y="1792224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C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8121701" y="2231136"/>
            <a:ext cx="3320186" cy="0"/>
          </a:xfrm>
          <a:prstGeom prst="line">
            <a:avLst/>
          </a:prstGeom>
          <a:noFill/>
          <a:ln w="12700">
            <a:solidFill>
              <a:srgbClr val="DCE4EF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8121701" y="2359152"/>
            <a:ext cx="281726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Grammar</a:t>
            </a:r>
            <a:endParaRPr lang="en-US" sz="1400" dirty="0"/>
          </a:p>
        </p:txBody>
      </p:sp>
      <p:sp>
        <p:nvSpPr>
          <p:cNvPr id="44" name="Text 42"/>
          <p:cNvSpPr txBox="1"/>
          <p:nvPr/>
        </p:nvSpPr>
        <p:spPr>
          <a:xfrm>
            <a:off x="10966399" y="2395728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C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8121701" y="2834640"/>
            <a:ext cx="3320186" cy="0"/>
          </a:xfrm>
          <a:prstGeom prst="line">
            <a:avLst/>
          </a:prstGeom>
          <a:noFill/>
          <a:ln w="12700">
            <a:solidFill>
              <a:srgbClr val="DCE4EF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8121701" y="2962656"/>
            <a:ext cx="281726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Completeness</a:t>
            </a:r>
            <a:endParaRPr lang="en-US" sz="1400" dirty="0"/>
          </a:p>
        </p:txBody>
      </p:sp>
      <p:sp>
        <p:nvSpPr>
          <p:cNvPr id="47" name="Text 45"/>
          <p:cNvSpPr txBox="1"/>
          <p:nvPr/>
        </p:nvSpPr>
        <p:spPr>
          <a:xfrm>
            <a:off x="10966399" y="299923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C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8121701" y="3438144"/>
            <a:ext cx="3320186" cy="0"/>
          </a:xfrm>
          <a:prstGeom prst="line">
            <a:avLst/>
          </a:prstGeom>
          <a:noFill/>
          <a:ln w="12700">
            <a:solidFill>
              <a:srgbClr val="DCE4EF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8121701" y="3566160"/>
            <a:ext cx="281726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integrity</a:t>
            </a:r>
            <a:endParaRPr lang="en-US" sz="1400" dirty="0"/>
          </a:p>
        </p:txBody>
      </p:sp>
      <p:sp>
        <p:nvSpPr>
          <p:cNvPr id="50" name="Text 48"/>
          <p:cNvSpPr txBox="1"/>
          <p:nvPr/>
        </p:nvSpPr>
        <p:spPr>
          <a:xfrm>
            <a:off x="10966399" y="3602736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C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8121701" y="4041648"/>
            <a:ext cx="3320186" cy="0"/>
          </a:xfrm>
          <a:prstGeom prst="line">
            <a:avLst/>
          </a:prstGeom>
          <a:noFill/>
          <a:ln w="12700">
            <a:solidFill>
              <a:srgbClr val="DCE4EF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8121701" y="4169664"/>
            <a:ext cx="281726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Readability</a:t>
            </a:r>
            <a:endParaRPr lang="en-US" sz="1400" dirty="0"/>
          </a:p>
        </p:txBody>
      </p:sp>
      <p:sp>
        <p:nvSpPr>
          <p:cNvPr id="53" name="Text 51"/>
          <p:cNvSpPr txBox="1"/>
          <p:nvPr/>
        </p:nvSpPr>
        <p:spPr>
          <a:xfrm>
            <a:off x="10966399" y="4206240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C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54" name="Shape 52"/>
          <p:cNvSpPr/>
          <p:nvPr/>
        </p:nvSpPr>
        <p:spPr>
          <a:xfrm>
            <a:off x="8121701" y="4645152"/>
            <a:ext cx="3320186" cy="0"/>
          </a:xfrm>
          <a:prstGeom prst="line">
            <a:avLst/>
          </a:prstGeom>
          <a:noFill/>
          <a:ln w="12700">
            <a:solidFill>
              <a:srgbClr val="DCE4EF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8121701" y="4773168"/>
            <a:ext cx="281726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Tone</a:t>
            </a:r>
            <a:endParaRPr lang="en-US" sz="1400" dirty="0"/>
          </a:p>
        </p:txBody>
      </p:sp>
      <p:sp>
        <p:nvSpPr>
          <p:cNvPr id="56" name="Text 54"/>
          <p:cNvSpPr txBox="1"/>
          <p:nvPr/>
        </p:nvSpPr>
        <p:spPr>
          <a:xfrm>
            <a:off x="10966399" y="4809744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C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57" name="Shape 55"/>
          <p:cNvSpPr/>
          <p:nvPr/>
        </p:nvSpPr>
        <p:spPr>
          <a:xfrm>
            <a:off x="8121701" y="5248656"/>
            <a:ext cx="3320186" cy="0"/>
          </a:xfrm>
          <a:prstGeom prst="line">
            <a:avLst/>
          </a:prstGeom>
          <a:noFill/>
          <a:ln w="12700">
            <a:solidFill>
              <a:srgbClr val="DCE4EF"/>
            </a:solidFill>
            <a:prstDash val="solid"/>
          </a:ln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66928" y="658368"/>
            <a:ext cx="1105783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to take away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627632"/>
            <a:ext cx="5669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C87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225296" y="1627632"/>
            <a:ext cx="4114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 it before you read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5504688" y="1627632"/>
            <a:ext cx="612007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F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clears the mechanical faults so your read goes on argument and accuracy.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2414016"/>
            <a:ext cx="5669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C87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225296" y="2414016"/>
            <a:ext cx="4114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clean result is not sign-off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5504688" y="2414016"/>
            <a:ext cx="612007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F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cannot judge a finding, a severity or a recommendation. That stays with you.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566928" y="3200400"/>
            <a:ext cx="5669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C87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1225296" y="3200400"/>
            <a:ext cx="4114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Fill in the engagement settings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5504688" y="3200400"/>
            <a:ext cx="612007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F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checks depend on them, including the one that catches another client’s name.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566928" y="3986784"/>
            <a:ext cx="5669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C87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1225296" y="3986784"/>
            <a:ext cx="4114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Nothing leaves the machine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5504688" y="3986784"/>
            <a:ext cx="612007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F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upload, no server, no account. Enforced by the build, not by a promise.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566928" y="4773168"/>
            <a:ext cx="5669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C87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1225296" y="4773168"/>
            <a:ext cx="4114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 aside what does not apply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5504688" y="4773168"/>
            <a:ext cx="612007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F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have the last word, and every exclusion is counted and visible.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566928" y="5760720"/>
            <a:ext cx="110578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handbook  </a:t>
            </a:r>
            <a:pPr indent="0" marL="0">
              <a:buNone/>
            </a:pPr>
            <a:r>
              <a:rPr lang="en-US" sz="1350" dirty="0">
                <a:solidFill>
                  <a:srgbClr val="9F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report-qa-handbook.html sits beside the tool and has every check in it. Questions to Rajan Narwal.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LevelBlue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Report QA - team walkthrough</dc:title>
  <dc:subject>PptxGenJS Presentation</dc:subject>
  <dc:creator>Rajan Narwal</dc:creator>
  <cp:lastModifiedBy>Rajan Narwal</cp:lastModifiedBy>
  <cp:revision>1</cp:revision>
  <dcterms:created xsi:type="dcterms:W3CDTF">2026-09-25T08:11:14Z</dcterms:created>
  <dcterms:modified xsi:type="dcterms:W3CDTF">2026-09-25T08:11:14Z</dcterms:modified>
</cp:coreProperties>
</file>