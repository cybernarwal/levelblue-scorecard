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walkthrough of the offline Report QA tool: what it is, what it is not, and how to use it. Two things matter most – it is the first of two review stages, and no client data leaves the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people remember nothing else from this session, it should be these two. The first protects the client from a bad report; the second protects the client from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offline guarantee is checked by the build script, not left to anyone remembering. Worth saying out loud to anyone nervous about putting client drafts through a browser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example: filling these in on our sample deck took it from 27 findings to 29, and the two it added were a missing classification marking and a previous client name sitting in the slide master – invisible to anyone reading the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five is the point of the whole thing. The tool exists to clear the mechanical noise so that read is spent on argument and accuracy.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Blockers and majors decide whether the draft goes out. Minors and nits are about how finished it looks.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the single biggest change to the tool: the finding used to say what rule fired and roughly where. Now it shows the words at fault, highlighted, in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preview on a collapsed group is the useful part – the flagged words themselves, so you can often decide without expanding.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is that exclusions are visible. A QA pass whose exclusions are invisible is one nobody can audit – including us, six months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Anything you set aside is excluded from all four, and each one states how many were left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step that used to cost the most time – reading a QA report and retyping each point into the deck as a comment.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PDF refusal surprises people. It is deliberate: a QA pass that invents faults is worse than no QA pass, and it trains people to ignore the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list with every rule name is in the handbook, which is a single HTML file that sits next to the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first two. Everything else is mechanics that people will pick up by using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1783080"/>
            <a:ext cx="11057839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658368"/>
            <a:ext cx="11057839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173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7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LEVELBLUE · CYBER ADVISORY</a:t>
            </a:r>
            <a:endParaRPr lang="en-US" sz="12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66928" y="17830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 QA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907792"/>
            <a:ext cx="8595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9C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mechanical check that runs before </a:t>
            </a:r>
            <a:pPr indent="0" marL="0">
              <a:buNone/>
            </a:pPr>
            <a:r>
              <a:rPr lang="en-US" sz="2000" b="1" dirty="0">
                <a:solidFill>
                  <a:srgbClr val="4A3300"/>
                </a:solidFill>
                <a:highlight>
                  <a:srgbClr val="FFE28A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pPr indent="0" marL="0">
              <a:buNone/>
            </a:pPr>
            <a:r>
              <a:rPr lang="en-US" sz="2000" dirty="0">
                <a:solidFill>
                  <a:srgbClr val="B9C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read the draft.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70332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checks · one file · no install · nothing leaves your computer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8064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Rajan Narwal · Manager, Cyber Advisory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before anything else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in this deck is detail. These two are not.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5323180" cy="3931920"/>
          </a:xfrm>
          <a:prstGeom prst="roundRect">
            <a:avLst>
              <a:gd name="adj" fmla="val 1628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192024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1920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2542032"/>
            <a:ext cx="45550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stage one, not the review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3529584"/>
            <a:ext cx="45550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finds mechanical faults. It cannot tell you whether a finding is right, whether a severity is justified, or whether your advice would work.</a:t>
            </a:r>
            <a:endParaRPr lang="en-US" sz="1450" dirty="0"/>
          </a:p>
          <a:p>
            <a:pPr indent="0" marL="0">
              <a:lnSpc>
                <a:spcPct val="118000"/>
              </a:lnSpc>
              <a:buNone/>
            </a:pPr>
            <a:endParaRPr lang="en-US" sz="14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result is not sign-off. Every draft still needs someone to read it.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01588" y="1600200"/>
            <a:ext cx="5323180" cy="3931920"/>
          </a:xfrm>
          <a:prstGeom prst="roundRect">
            <a:avLst>
              <a:gd name="adj" fmla="val 1628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85636" y="192024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7F5EE"/>
          </a:solidFill>
          <a:ln w="12700">
            <a:solidFill>
              <a:srgbClr val="E7F5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85636" y="1920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7F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685636" y="2542032"/>
            <a:ext cx="45550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leaves your computer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6685636" y="3529584"/>
            <a:ext cx="45550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upload, no server, no account, no telemetry. The draft is read into your browser and forgotten when you close the tab.</a:t>
            </a:r>
            <a:endParaRPr lang="en-US" sz="1450" dirty="0"/>
          </a:p>
          <a:p>
            <a:pPr indent="0" marL="0">
              <a:lnSpc>
                <a:spcPct val="118000"/>
              </a:lnSpc>
              <a:buNone/>
            </a:pPr>
            <a:endParaRPr lang="en-US" sz="14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prove it: pull the network cable, open the file, check a report. It works the same.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runs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file. No install, no terminal, no server, no network.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0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6642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the file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53712" y="1645920"/>
            <a:ext cx="7071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report-qa.html goes wherever you keep it - SharePoint, your desktop, a USB stick. Open it in Edge or Chrome.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99923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70432" y="296265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runs locally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2944368"/>
            <a:ext cx="7071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it needs is inside that one file. Your browser runs it locally, and makes no request – so there is nowhere for the draft to go.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2976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42611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Updating is a file swap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53712" y="4242816"/>
            <a:ext cx="7071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one file and everyone picks up the new checks. The version is printed at the foot of the tool.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5541264"/>
            <a:ext cx="11057839" cy="749808"/>
          </a:xfrm>
          <a:prstGeom prst="roundRect">
            <a:avLst>
              <a:gd name="adj" fmla="val 8537"/>
            </a:avLst>
          </a:prstGeom>
          <a:solidFill>
            <a:srgbClr val="F4F7FC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7824" y="5541264"/>
            <a:ext cx="1043604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Enforced, not promised.  </a:t>
            </a:r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refuses to produce a file containing a network call or an external script. If someone added one, the build fails rather than ships.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engagement first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values. Three checks cannot run without them, so an empty field quietly narrows the whole pass.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556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3172968" y="17556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UNLOCKS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379208" y="1755648"/>
            <a:ext cx="42455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LEAVE IT BLANK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21408"/>
            <a:ext cx="11057839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267712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172968" y="2267712"/>
            <a:ext cx="3931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report to British or American spelling.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379208" y="2267712"/>
            <a:ext cx="39712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dialect is guessed – unreliable on a short deck.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999232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client's name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172968" y="2999232"/>
            <a:ext cx="3931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report actually names them.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379208" y="2999232"/>
            <a:ext cx="39712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field nobody filled in goes unnoticed.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730752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clients' names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72968" y="3730752"/>
            <a:ext cx="3931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a previous client surviving in a copied deck, including the slide masters.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379208" y="3730752"/>
            <a:ext cx="39712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leakage goes unreported – the worst thing this tool finds.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462272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marking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172968" y="4462272"/>
            <a:ext cx="3931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classification marking is present and consistent.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379208" y="4462272"/>
            <a:ext cx="39712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marking is not checked at all.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12064" y="5321808"/>
            <a:ext cx="7973568" cy="887176"/>
          </a:xfrm>
          <a:prstGeom prst="roundRect">
            <a:avLst>
              <a:gd name="adj" fmla="val 6184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376672"/>
            <a:ext cx="7863840" cy="77744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8750808" y="56465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carries its own state.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a check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steps. The last one is the one the tool cannot do for you.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190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the draft on the page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03911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PowerPoint, Word, Markdown or HTML. Nothing is uploaded.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6151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615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786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verdict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9864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line: whether anything here must not reach a client.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74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3814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the blockers and majors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5818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open by default. Minors and nits start collapsed.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4334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2976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aside what does not apply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61772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verdict and every export follow your decisions.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1937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15721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it back, then read it yourself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47725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judgement the tool has no access to.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004304" y="1911096"/>
            <a:ext cx="4672584" cy="1110445"/>
          </a:xfrm>
          <a:prstGeom prst="roundRect">
            <a:avLst>
              <a:gd name="adj" fmla="val 4941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1965960"/>
            <a:ext cx="4562856" cy="1000717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7059168" y="3112981"/>
            <a:ext cx="4562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2, on a real deck.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levels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one is telling you to do.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11057839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19202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19202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27685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checks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139696" y="1883664"/>
            <a:ext cx="9137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Must not reach a client at all.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2139696" y="2212848"/>
            <a:ext cx="913759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credential, another client’s name, an unresolved comment, a tracked change, an internal remark in the speaker notes.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862072"/>
            <a:ext cx="11057839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308152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343814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checks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39696" y="3044952"/>
            <a:ext cx="9137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Wrong, or reads as wrong to the client.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2139696" y="3374136"/>
            <a:ext cx="913759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section, a cross-reference that goes nowhere, a Common Vulnerability Scoring System (CVSS) score that contradicts its own label.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023360"/>
            <a:ext cx="11057839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424281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" y="424281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005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59536" y="459943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checks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139696" y="4206240"/>
            <a:ext cx="9137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draft disagrees with itself.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2139696" y="4535424"/>
            <a:ext cx="913759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Spelling, capitalisation, dashes, spacing. Small alone; together they are what makes a report look unchecked.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184648"/>
            <a:ext cx="11057839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9536" y="5404104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9536" y="540410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5A6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59536" y="576072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checks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139696" y="5367528"/>
            <a:ext cx="9137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preference rather than a fault.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2139696" y="5696712"/>
            <a:ext cx="913759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Wordiness, hedging, passive voice. Fix if you have the time, ignore it if you do not.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finding quotes your own words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you can match it against the slide in front of you, instead of decoding a rule name.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12064" y="1682496"/>
            <a:ext cx="11167567" cy="1770940"/>
          </a:xfrm>
          <a:prstGeom prst="roundRect">
            <a:avLst>
              <a:gd name="adj" fmla="val 3098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11057839" cy="16612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354487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tool, on our sample deck.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4069080"/>
            <a:ext cx="534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exact words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361688"/>
            <a:ext cx="534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 inside their own sentence – not a line number to go hunting with.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78728" y="4069080"/>
            <a:ext cx="534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Whitespace too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6278728" y="4361688"/>
            <a:ext cx="534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double space shows as a highlighted blank. It is the only way to see one at all.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166360"/>
            <a:ext cx="534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replacement</a:t>
            </a:r>
            <a:endParaRPr lang="en-US" sz="15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5458968"/>
            <a:ext cx="534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fix is unambiguous, it is given in green on the right.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278728" y="5166360"/>
            <a:ext cx="534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family</a:t>
            </a:r>
            <a:endParaRPr lang="en-US" sz="1550" dirty="0"/>
          </a:p>
        </p:txBody>
      </p:sp>
      <p:sp>
        <p:nvSpPr>
          <p:cNvPr id="14" name="Text 11"/>
          <p:cNvSpPr txBox="1"/>
          <p:nvPr/>
        </p:nvSpPr>
        <p:spPr>
          <a:xfrm>
            <a:off x="6278728" y="5458968"/>
            <a:ext cx="534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kind of check raised it, and the rule name if you need to raise it with me.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the list readable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27-finding deck used to be three screens. It is now about one.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442106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2057400"/>
            <a:ext cx="289346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Grouped by check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697480"/>
            <a:ext cx="28934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 that fired eight times is one row with a count and a preview of the flagged words – often enough to act on without opening it.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74794" y="1783080"/>
            <a:ext cx="3442106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49114" y="2057400"/>
            <a:ext cx="289346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Collapsed by default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649114" y="2697480"/>
            <a:ext cx="28934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Blockers and majors open, because they decide whether the draft goes out. Minors and nits start shut.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82661" y="1783080"/>
            <a:ext cx="3442106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6981" y="2057400"/>
            <a:ext cx="289346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filters the list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456981" y="2697480"/>
            <a:ext cx="28934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Blocker and you see blockers only. Click it again to clear. That is your go/no-go view.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12064" y="4471416"/>
            <a:ext cx="11167567" cy="769140"/>
          </a:xfrm>
          <a:prstGeom prst="roundRect">
            <a:avLst>
              <a:gd name="adj" fmla="val 7133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26280"/>
            <a:ext cx="11057839" cy="659412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5350284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row, six places. Often enough to judge without opening it.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have the last word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rule set is right about everything.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323180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7824" y="1938528"/>
            <a:ext cx="4701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Ignore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77824" y="2304288"/>
            <a:ext cx="47013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that flagged text being reported by that check.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1588" y="1737360"/>
            <a:ext cx="5323180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12484" y="1938528"/>
            <a:ext cx="4701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Ignore check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612484" y="2304288"/>
            <a:ext cx="47013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whole check aside for this draft.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45643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you set aside is simply gone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3913632"/>
            <a:ext cx="10874959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collects in an Ignored section at the foot of the list, with Restore on each.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total sits under the verdict, so a verdict reached by ignoring never looks like one reached by fixing.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copied format states how many were left out.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decisions survive re-checking the same draft after a round of edits – but are never written to disk, because the keys would carry client text into browser storage.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5120640"/>
            <a:ext cx="10533888" cy="1173662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5175504"/>
            <a:ext cx="10424160" cy="106393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Handing the findings back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puts them on your clipboard in the shape the next person needs.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532318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9536" y="1938528"/>
            <a:ext cx="47379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comments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267712"/>
            <a:ext cx="47379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block per finding, to paste into the comment on that slide or paragraph.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1588" y="1755648"/>
            <a:ext cx="532318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94196" y="1938528"/>
            <a:ext cx="47379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94196" y="2267712"/>
            <a:ext cx="47379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per finding, blockers first, to attach to the mail back to the author.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3127248"/>
            <a:ext cx="532318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" y="3310128"/>
            <a:ext cx="47379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Blocker list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3639312"/>
            <a:ext cx="47379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stops the draft being issued. The go/no-go note.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1588" y="3127248"/>
            <a:ext cx="532318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94196" y="3310128"/>
            <a:ext cx="47379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report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594196" y="3639312"/>
            <a:ext cx="47379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report in Markdown, for a review thread.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188720" y="4425696"/>
            <a:ext cx="9802368" cy="1167107"/>
          </a:xfrm>
          <a:prstGeom prst="roundRect">
            <a:avLst>
              <a:gd name="adj" fmla="val 4701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584" y="4480560"/>
            <a:ext cx="9692640" cy="105737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66928" y="5720819"/>
            <a:ext cx="11057839" cy="64008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96112" y="5720819"/>
            <a:ext cx="1039947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quote the flagged text. </a:t>
            </a:r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"Line 42 has an American spelling" sends the author hunting. </a:t>
            </a:r>
            <a:pPr indent="0" marL="0">
              <a:buNone/>
            </a:pPr>
            <a:r>
              <a:rPr lang="en-US" sz="1350" dirty="0">
                <a:solidFill>
                  <a:srgbClr val="4A3300"/>
                </a:solidFill>
                <a:highlight>
                  <a:srgbClr val="FFE28A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Found: "color"</a:t>
            </a:r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does not.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658368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more transcribing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98448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B9C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PowerPoint file, Download deck with comments saves a copy carrying one real PowerPoint comment per finding, on the slide it came from.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66928" y="226771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6293D"/>
          </a:solidFill>
          <a:ln w="12700">
            <a:solidFill>
              <a:srgbClr val="1629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D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78992" y="221284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writes a copy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4407408" y="2212848"/>
            <a:ext cx="721735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(QA comments).pptx. The file you dropped in is read and never written to.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03580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6293D"/>
          </a:solidFill>
          <a:ln w="12700">
            <a:solidFill>
              <a:srgbClr val="1629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035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D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298094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Slides are untouched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2980944"/>
            <a:ext cx="721735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Copied across byte for byte. Nothing is re-encoded behind the author’s back.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80390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6293D"/>
          </a:solidFill>
          <a:ln w="12700">
            <a:solidFill>
              <a:srgbClr val="1629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D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3749040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comments survive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407408" y="3749040"/>
            <a:ext cx="721735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 and anyone else’s, with their names. A second pass adds rather than replaces.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5720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6293D"/>
          </a:solidFill>
          <a:ln w="12700">
            <a:solidFill>
              <a:srgbClr val="1629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4572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D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451713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Ignored findings stay out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407408" y="4517136"/>
            <a:ext cx="721735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as the copied formats.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715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B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is not supported for this yet – it anchors comments to exact runs of text rather than to a page, which is a harder problem.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reads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one format it refuses, on purpose.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55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F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.pptx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578608" y="1709928"/>
            <a:ext cx="90461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titles, bullets, tables, speaker notes, comments, and the text in slide layouts and masters. Findings are reported by slide number.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468880"/>
            <a:ext cx="11057839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6151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F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.docx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578608" y="2569464"/>
            <a:ext cx="90461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text, plus tracked changes, comments, highlighting, headers, footers and document properties.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3328416"/>
            <a:ext cx="11057839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F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.md  .txt  .html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78608" y="3429000"/>
            <a:ext cx="90461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supported.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4187952"/>
            <a:ext cx="11057839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433425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.pdf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578608" y="4288536"/>
            <a:ext cx="90461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Refused. Text pulled back out of a PDF garbles spacing and line breaks, so a check on it would report faults that are not in your document and miss ones that are. Check the file you made the PDF from.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5047488"/>
            <a:ext cx="11057839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51937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.doc  .ppt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578608" y="5148072"/>
            <a:ext cx="90461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Refused. Save as the modern format first.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 checks, 18 families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under every finding, so you always know which kind of check raised it.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5564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411626" y="179222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359152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Spacing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411626" y="23957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2834640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2962656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11626" y="299923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438144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3566160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accuracy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411626" y="36027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041648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4169664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readiness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411626" y="42062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45152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477316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411626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524865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44314" y="175564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89013" y="179222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44314" y="223113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44314" y="2359152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quality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89013" y="23957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344314" y="2834640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344314" y="2962656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189013" y="299923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344314" y="3438144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44314" y="3566160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189013" y="36027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44314" y="4041648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44314" y="4169664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189013" y="42062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344314" y="4645152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344314" y="477316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7189013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344314" y="524865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121701" y="175564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966399" y="179222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121701" y="223113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21701" y="2359152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10966399" y="23957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121701" y="2834640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21701" y="2962656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10966399" y="299923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121701" y="3438144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121701" y="3566160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966399" y="36027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121701" y="4041648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21701" y="4169664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Readability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10966399" y="42062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8121701" y="4645152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121701" y="477316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966399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8121701" y="524865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658368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take away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627632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8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162763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 before you read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504688" y="1627632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clears the mechanical faults so your read goes on argument and accuracy.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4016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8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2414016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clean result is not sign-off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504688" y="2414016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judge a finding, a severity or a recommendation. That stays with you.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0040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8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25296" y="32004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Fill in the engagement settings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504688" y="3200400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checks depend on them, including the one that catches another client’s name.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8678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8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25296" y="3986784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leaves the machine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504688" y="3986784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upload, no server, no account. Enforced by the build, not by a promise.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77316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8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225296" y="477316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aside what does not apply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504688" y="4773168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the last word, and every exclusion is counted and visible.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handbook  </a:t>
            </a:r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report-qa-handbook.html sits beside the tool and has every check in it. Questions to Rajan Narwal.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LevelBlue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 QA - team walkthrough</dc:title>
  <dc:subject>PptxGenJS Presentation</dc:subject>
  <dc:creator>Rajan Narwal</dc:creator>
  <cp:lastModifiedBy>Rajan Narwal</cp:lastModifiedBy>
  <cp:revision>1</cp:revision>
  <dcterms:created xsi:type="dcterms:W3CDTF">2026-09-22T13:00:32Z</dcterms:created>
  <dcterms:modified xsi:type="dcterms:W3CDTF">2026-09-22T13:00:32Z</dcterms:modified>
</cp:coreProperties>
</file>